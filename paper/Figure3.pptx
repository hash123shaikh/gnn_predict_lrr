
<file path=[Content_Types].xml><?xml version="1.0" encoding="utf-8"?>
<Types xmlns="http://schemas.openxmlformats.org/package/2006/content-types">
  <Override PartName="/_rels/.rels" ContentType="application/vnd.openxmlformats-package.relationships+xml"/>
  <Override PartName="/ppt/_rels/presentation.xml.rels" ContentType="application/vnd.openxmlformats-package.relationships+xml"/>
  <Override PartName="/ppt/media/image3.png" ContentType="image/png"/>
  <Override PartName="/ppt/media/image2.jpeg" ContentType="image/jpeg"/>
  <Override PartName="/ppt/media/image1.png" ContentType="image/png"/>
  <Override PartName="/ppt/slides/_rels/slide1.xml.rels" ContentType="application/vnd.openxmlformats-package.relationships+xml"/>
  <Override PartName="/ppt/slides/slide1.xml" ContentType="application/vnd.openxmlformats-officedocument.presentationml.slide+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slideMasters/_rels/slideMaster1.xml.rels" ContentType="application/vnd.openxmlformats-package.relationships+xml"/>
  <Override PartName="/ppt/slideMasters/slideMaster1.xml" ContentType="application/vnd.openxmlformats-officedocument.presentationml.slideMaster+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0080625" cy="567055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 name="PlaceHolder 2"/>
          <p:cNvSpPr>
            <a:spLocks noGrp="1"/>
          </p:cNvSpPr>
          <p:nvPr>
            <p:ph type="subTitle"/>
          </p:nvPr>
        </p:nvSpPr>
        <p:spPr>
          <a:xfrm>
            <a:off x="504000" y="1326600"/>
            <a:ext cx="9071640" cy="328824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3" name="PlaceHolder 2"/>
          <p:cNvSpPr>
            <a:spLocks noGrp="1"/>
          </p:cNvSpPr>
          <p:nvPr>
            <p:ph type="body"/>
          </p:nvPr>
        </p:nvSpPr>
        <p:spPr>
          <a:xfrm>
            <a:off x="504000" y="1326600"/>
            <a:ext cx="907164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5"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6"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 name="PlaceHolder 1"/>
          <p:cNvSpPr>
            <a:spLocks noGrp="1"/>
          </p:cNvSpPr>
          <p:nvPr>
            <p:ph type="subTitle"/>
          </p:nvPr>
        </p:nvSpPr>
        <p:spPr>
          <a:xfrm>
            <a:off x="504000" y="226080"/>
            <a:ext cx="9071640" cy="4388400"/>
          </a:xfrm>
          <a:prstGeom prst="rect">
            <a:avLst/>
          </a:prstGeom>
        </p:spPr>
        <p:txBody>
          <a:bodyPr lIns="0" rIns="0" tIns="0" bIns="0" anchor="ct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0"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11" name="PlaceHolder 3"/>
          <p:cNvSpPr>
            <a:spLocks noGrp="1"/>
          </p:cNvSpPr>
          <p:nvPr>
            <p:ph type="body"/>
          </p:nvPr>
        </p:nvSpPr>
        <p:spPr>
          <a:xfrm>
            <a:off x="5152680" y="1326600"/>
            <a:ext cx="4426920" cy="3288240"/>
          </a:xfrm>
          <a:prstGeom prst="rect">
            <a:avLst/>
          </a:prstGeom>
        </p:spPr>
        <p:txBody>
          <a:bodyPr lIns="0" rIns="0" tIns="0" bIns="0">
            <a:normAutofit/>
          </a:bodyPr>
          <a:p>
            <a:endParaRPr b="0" lang="en-US" sz="3200" spc="-1" strike="noStrike">
              <a:latin typeface="Arial"/>
            </a:endParaRPr>
          </a:p>
        </p:txBody>
      </p:sp>
      <p:sp>
        <p:nvSpPr>
          <p:cNvPr id="12"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4" name="PlaceHolder 2"/>
          <p:cNvSpPr>
            <a:spLocks noGrp="1"/>
          </p:cNvSpPr>
          <p:nvPr>
            <p:ph type="body"/>
          </p:nvPr>
        </p:nvSpPr>
        <p:spPr>
          <a:xfrm>
            <a:off x="504000" y="1326600"/>
            <a:ext cx="4426920" cy="3288240"/>
          </a:xfrm>
          <a:prstGeom prst="rect">
            <a:avLst/>
          </a:prstGeom>
        </p:spPr>
        <p:txBody>
          <a:bodyPr lIns="0" rIns="0" tIns="0" bIns="0">
            <a:normAutofit/>
          </a:bodyPr>
          <a:p>
            <a:endParaRPr b="0" lang="en-US" sz="3200" spc="-1" strike="noStrike">
              <a:latin typeface="Arial"/>
            </a:endParaRPr>
          </a:p>
        </p:txBody>
      </p:sp>
      <p:sp>
        <p:nvSpPr>
          <p:cNvPr id="15"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16" name="PlaceHolder 4"/>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18"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19"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0" name="PlaceHolder 4"/>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22" name="PlaceHolder 2"/>
          <p:cNvSpPr>
            <a:spLocks noGrp="1"/>
          </p:cNvSpPr>
          <p:nvPr>
            <p:ph type="body"/>
          </p:nvPr>
        </p:nvSpPr>
        <p:spPr>
          <a:xfrm>
            <a:off x="504000" y="1326600"/>
            <a:ext cx="9071640" cy="1568160"/>
          </a:xfrm>
          <a:prstGeom prst="rect">
            <a:avLst/>
          </a:prstGeom>
        </p:spPr>
        <p:txBody>
          <a:bodyPr lIns="0" rIns="0" tIns="0" bIns="0">
            <a:normAutofit/>
          </a:bodyPr>
          <a:p>
            <a:endParaRPr b="0" lang="en-US" sz="3200" spc="-1" strike="noStrike">
              <a:latin typeface="Arial"/>
            </a:endParaRPr>
          </a:p>
        </p:txBody>
      </p:sp>
      <p:sp>
        <p:nvSpPr>
          <p:cNvPr id="23" name="PlaceHolder 3"/>
          <p:cNvSpPr>
            <a:spLocks noGrp="1"/>
          </p:cNvSpPr>
          <p:nvPr>
            <p:ph type="body"/>
          </p:nvPr>
        </p:nvSpPr>
        <p:spPr>
          <a:xfrm>
            <a:off x="504000" y="3044160"/>
            <a:ext cx="907164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25" name="PlaceHolder 2"/>
          <p:cNvSpPr>
            <a:spLocks noGrp="1"/>
          </p:cNvSpPr>
          <p:nvPr>
            <p:ph type="body"/>
          </p:nvPr>
        </p:nvSpPr>
        <p:spPr>
          <a:xfrm>
            <a:off x="504000" y="1326600"/>
            <a:ext cx="4426920" cy="1568160"/>
          </a:xfrm>
          <a:prstGeom prst="rect">
            <a:avLst/>
          </a:prstGeom>
        </p:spPr>
        <p:txBody>
          <a:bodyPr lIns="0" rIns="0" tIns="0" bIns="0">
            <a:normAutofit/>
          </a:bodyPr>
          <a:p>
            <a:endParaRPr b="0" lang="en-US" sz="3200" spc="-1" strike="noStrike">
              <a:latin typeface="Arial"/>
            </a:endParaRPr>
          </a:p>
        </p:txBody>
      </p:sp>
      <p:sp>
        <p:nvSpPr>
          <p:cNvPr id="26" name="PlaceHolder 3"/>
          <p:cNvSpPr>
            <a:spLocks noGrp="1"/>
          </p:cNvSpPr>
          <p:nvPr>
            <p:ph type="body"/>
          </p:nvPr>
        </p:nvSpPr>
        <p:spPr>
          <a:xfrm>
            <a:off x="5152680" y="1326600"/>
            <a:ext cx="4426920" cy="1568160"/>
          </a:xfrm>
          <a:prstGeom prst="rect">
            <a:avLst/>
          </a:prstGeom>
        </p:spPr>
        <p:txBody>
          <a:bodyPr lIns="0" rIns="0" tIns="0" bIns="0">
            <a:normAutofit/>
          </a:bodyPr>
          <a:p>
            <a:endParaRPr b="0" lang="en-US" sz="3200" spc="-1" strike="noStrike">
              <a:latin typeface="Arial"/>
            </a:endParaRPr>
          </a:p>
        </p:txBody>
      </p:sp>
      <p:sp>
        <p:nvSpPr>
          <p:cNvPr id="27" name="PlaceHolder 4"/>
          <p:cNvSpPr>
            <a:spLocks noGrp="1"/>
          </p:cNvSpPr>
          <p:nvPr>
            <p:ph type="body"/>
          </p:nvPr>
        </p:nvSpPr>
        <p:spPr>
          <a:xfrm>
            <a:off x="504000" y="3044160"/>
            <a:ext cx="4426920" cy="1568160"/>
          </a:xfrm>
          <a:prstGeom prst="rect">
            <a:avLst/>
          </a:prstGeom>
        </p:spPr>
        <p:txBody>
          <a:bodyPr lIns="0" rIns="0" tIns="0" bIns="0">
            <a:normAutofit/>
          </a:bodyPr>
          <a:p>
            <a:endParaRPr b="0" lang="en-US" sz="3200" spc="-1" strike="noStrike">
              <a:latin typeface="Arial"/>
            </a:endParaRPr>
          </a:p>
        </p:txBody>
      </p:sp>
      <p:sp>
        <p:nvSpPr>
          <p:cNvPr id="28" name="PlaceHolder 5"/>
          <p:cNvSpPr>
            <a:spLocks noGrp="1"/>
          </p:cNvSpPr>
          <p:nvPr>
            <p:ph type="body"/>
          </p:nvPr>
        </p:nvSpPr>
        <p:spPr>
          <a:xfrm>
            <a:off x="5152680" y="3044160"/>
            <a:ext cx="4426920" cy="156816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p:spPr>
        <p:txBody>
          <a:bodyPr lIns="0" rIns="0" tIns="0" bIns="0" anchor="ctr"/>
          <a:p>
            <a:pPr algn="ctr"/>
            <a:endParaRPr b="0" lang="en-US" sz="4400" spc="-1" strike="noStrike">
              <a:latin typeface="Arial"/>
            </a:endParaRPr>
          </a:p>
        </p:txBody>
      </p:sp>
      <p:sp>
        <p:nvSpPr>
          <p:cNvPr id="30" name="PlaceHolder 2"/>
          <p:cNvSpPr>
            <a:spLocks noGrp="1"/>
          </p:cNvSpPr>
          <p:nvPr>
            <p:ph type="body"/>
          </p:nvPr>
        </p:nvSpPr>
        <p:spPr>
          <a:xfrm>
            <a:off x="504000" y="1326600"/>
            <a:ext cx="2920680" cy="1568160"/>
          </a:xfrm>
          <a:prstGeom prst="rect">
            <a:avLst/>
          </a:prstGeom>
        </p:spPr>
        <p:txBody>
          <a:bodyPr lIns="0" rIns="0" tIns="0" bIns="0">
            <a:normAutofit/>
          </a:bodyPr>
          <a:p>
            <a:endParaRPr b="0" lang="en-US" sz="3200" spc="-1" strike="noStrike">
              <a:latin typeface="Arial"/>
            </a:endParaRPr>
          </a:p>
        </p:txBody>
      </p:sp>
      <p:sp>
        <p:nvSpPr>
          <p:cNvPr id="31" name="PlaceHolder 3"/>
          <p:cNvSpPr>
            <a:spLocks noGrp="1"/>
          </p:cNvSpPr>
          <p:nvPr>
            <p:ph type="body"/>
          </p:nvPr>
        </p:nvSpPr>
        <p:spPr>
          <a:xfrm>
            <a:off x="3571200" y="1326600"/>
            <a:ext cx="2920680" cy="1568160"/>
          </a:xfrm>
          <a:prstGeom prst="rect">
            <a:avLst/>
          </a:prstGeom>
        </p:spPr>
        <p:txBody>
          <a:bodyPr lIns="0" rIns="0" tIns="0" bIns="0">
            <a:normAutofit/>
          </a:bodyPr>
          <a:p>
            <a:endParaRPr b="0" lang="en-US" sz="3200" spc="-1" strike="noStrike">
              <a:latin typeface="Arial"/>
            </a:endParaRPr>
          </a:p>
        </p:txBody>
      </p:sp>
      <p:sp>
        <p:nvSpPr>
          <p:cNvPr id="32" name="PlaceHolder 4"/>
          <p:cNvSpPr>
            <a:spLocks noGrp="1"/>
          </p:cNvSpPr>
          <p:nvPr>
            <p:ph type="body"/>
          </p:nvPr>
        </p:nvSpPr>
        <p:spPr>
          <a:xfrm>
            <a:off x="6638040" y="1326600"/>
            <a:ext cx="2920680" cy="1568160"/>
          </a:xfrm>
          <a:prstGeom prst="rect">
            <a:avLst/>
          </a:prstGeom>
        </p:spPr>
        <p:txBody>
          <a:bodyPr lIns="0" rIns="0" tIns="0" bIns="0">
            <a:normAutofit/>
          </a:bodyPr>
          <a:p>
            <a:endParaRPr b="0" lang="en-US" sz="3200" spc="-1" strike="noStrike">
              <a:latin typeface="Arial"/>
            </a:endParaRPr>
          </a:p>
        </p:txBody>
      </p:sp>
      <p:sp>
        <p:nvSpPr>
          <p:cNvPr id="33" name="PlaceHolder 5"/>
          <p:cNvSpPr>
            <a:spLocks noGrp="1"/>
          </p:cNvSpPr>
          <p:nvPr>
            <p:ph type="body"/>
          </p:nvPr>
        </p:nvSpPr>
        <p:spPr>
          <a:xfrm>
            <a:off x="504000" y="3044160"/>
            <a:ext cx="2920680" cy="1568160"/>
          </a:xfrm>
          <a:prstGeom prst="rect">
            <a:avLst/>
          </a:prstGeom>
        </p:spPr>
        <p:txBody>
          <a:bodyPr lIns="0" rIns="0" tIns="0" bIns="0">
            <a:normAutofit/>
          </a:bodyPr>
          <a:p>
            <a:endParaRPr b="0" lang="en-US" sz="3200" spc="-1" strike="noStrike">
              <a:latin typeface="Arial"/>
            </a:endParaRPr>
          </a:p>
        </p:txBody>
      </p:sp>
      <p:sp>
        <p:nvSpPr>
          <p:cNvPr id="34" name="PlaceHolder 6"/>
          <p:cNvSpPr>
            <a:spLocks noGrp="1"/>
          </p:cNvSpPr>
          <p:nvPr>
            <p:ph type="body"/>
          </p:nvPr>
        </p:nvSpPr>
        <p:spPr>
          <a:xfrm>
            <a:off x="3571200" y="3044160"/>
            <a:ext cx="2920680" cy="1568160"/>
          </a:xfrm>
          <a:prstGeom prst="rect">
            <a:avLst/>
          </a:prstGeom>
        </p:spPr>
        <p:txBody>
          <a:bodyPr lIns="0" rIns="0" tIns="0" bIns="0">
            <a:normAutofit/>
          </a:bodyPr>
          <a:p>
            <a:endParaRPr b="0" lang="en-US" sz="3200" spc="-1" strike="noStrike">
              <a:latin typeface="Arial"/>
            </a:endParaRPr>
          </a:p>
        </p:txBody>
      </p:sp>
      <p:sp>
        <p:nvSpPr>
          <p:cNvPr id="35" name="PlaceHolder 7"/>
          <p:cNvSpPr>
            <a:spLocks noGrp="1"/>
          </p:cNvSpPr>
          <p:nvPr>
            <p:ph type="body"/>
          </p:nvPr>
        </p:nvSpPr>
        <p:spPr>
          <a:xfrm>
            <a:off x="6638040" y="3044160"/>
            <a:ext cx="2920680" cy="156816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hyperlink" Target="https://doi.org/10.1148/rycan.240161" TargetMode="External"/><Relationship Id="rId4" Type="http://schemas.openxmlformats.org/officeDocument/2006/relationships/image" Target="../media/image3.png"/><Relationship Id="rId5"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 name="logo" descr=""/>
          <p:cNvPicPr/>
          <p:nvPr/>
        </p:nvPicPr>
        <p:blipFill>
          <a:blip r:embed="rId1"/>
          <a:stretch/>
        </p:blipFill>
        <p:spPr>
          <a:xfrm>
            <a:off x="151200" y="151200"/>
            <a:ext cx="687600" cy="183600"/>
          </a:xfrm>
          <a:prstGeom prst="rect">
            <a:avLst/>
          </a:prstGeom>
          <a:ln>
            <a:noFill/>
          </a:ln>
        </p:spPr>
      </p:pic>
      <p:sp>
        <p:nvSpPr>
          <p:cNvPr id="37" name="TextShape 1"/>
          <p:cNvSpPr txBox="1"/>
          <p:nvPr/>
        </p:nvSpPr>
        <p:spPr>
          <a:xfrm>
            <a:off x="144000" y="3744000"/>
            <a:ext cx="9792000" cy="1224000"/>
          </a:xfrm>
          <a:prstGeom prst="rect">
            <a:avLst/>
          </a:prstGeom>
          <a:noFill/>
          <a:ln>
            <a:noFill/>
          </a:ln>
        </p:spPr>
        <p:txBody>
          <a:bodyPr lIns="90000" rIns="90000" tIns="45000" bIns="45000"/>
          <a:p>
            <a:r>
              <a:rPr b="0" lang="en-US" sz="1000" spc="-1" strike="noStrike">
                <a:solidFill>
                  <a:srgbClr val="000000"/>
                </a:solidFill>
                <a:latin typeface="Arial"/>
              </a:rPr>
              <a:t>Figure 3: Model performance on outcome prediction tasks. Graphs show AUCs for RadGraph and baseline model predictions of LR (top) and DM (bottom) across the four datasets studied. Bars outlined in dashed red lines indicate the highest performance achieved on each dataset. AUC = area under the receiver operating characteristic curve, CNN = convolutional neural network, DM = distant metastasis, HNPET = Head-Neck-PET-CT dataset, HN1 = Head-Neck-Radiomics dataset, LR = local-regional recurrence, MDACC = MD Anderson Cancer Center Head and Neck Squamous Cell Carcinoma dataset, RADCURE = Computed Tomography Images from Head and Neck Cohort dataset, RadGraph = radiomic graph framework.</a:t>
            </a:r>
            <a:endParaRPr b="0" lang="en-US" sz="1000" spc="-1" strike="noStrike">
              <a:solidFill>
                <a:srgbClr val="000000"/>
              </a:solidFill>
              <a:latin typeface="Arial"/>
            </a:endParaRPr>
          </a:p>
          <a:p>
            <a:endParaRPr b="0" lang="en-US" sz="1000" spc="-1" strike="noStrike">
              <a:solidFill>
                <a:srgbClr val="000000"/>
              </a:solidFill>
              <a:latin typeface="Arial"/>
            </a:endParaRPr>
          </a:p>
        </p:txBody>
      </p:sp>
      <p:pic>
        <p:nvPicPr>
          <p:cNvPr id="38" name="Main graphic" descr=""/>
          <p:cNvPicPr/>
          <p:nvPr/>
        </p:nvPicPr>
        <p:blipFill>
          <a:blip r:embed="rId2"/>
          <a:stretch/>
        </p:blipFill>
        <p:spPr>
          <a:xfrm>
            <a:off x="3754800" y="396000"/>
            <a:ext cx="2570400" cy="3240000"/>
          </a:xfrm>
          <a:prstGeom prst="rect">
            <a:avLst/>
          </a:prstGeom>
          <a:ln>
            <a:noFill/>
          </a:ln>
        </p:spPr>
      </p:pic>
      <p:sp>
        <p:nvSpPr>
          <p:cNvPr id="39" name="TextShape 2"/>
          <p:cNvSpPr txBox="1"/>
          <p:nvPr/>
        </p:nvSpPr>
        <p:spPr>
          <a:xfrm>
            <a:off x="151200" y="5040000"/>
            <a:ext cx="5605200" cy="630000"/>
          </a:xfrm>
          <a:prstGeom prst="rect">
            <a:avLst/>
          </a:prstGeom>
          <a:noFill/>
          <a:ln>
            <a:noFill/>
          </a:ln>
        </p:spPr>
        <p:txBody>
          <a:bodyPr lIns="90000" rIns="90000" tIns="45000" bIns="45000"/>
          <a:p>
            <a:r>
              <a:rPr b="1" lang="en-US" sz="1200" spc="-1" strike="noStrike">
                <a:solidFill>
                  <a:srgbClr val="000000"/>
                </a:solidFill>
                <a:latin typeface="Arial"/>
              </a:rPr>
              <a:t>Bae J. Published Online: </a:t>
            </a:r>
            <a:r>
              <a:rPr b="0" lang="en-US" sz="900" spc="-1" strike="noStrike">
                <a:solidFill>
                  <a:srgbClr val="000000"/>
                </a:solidFill>
                <a:latin typeface="Arial"/>
              </a:rPr>
              <a:t>February 21, 2025</a:t>
            </a:r>
            <a:endParaRPr b="0" lang="en-US" sz="900" spc="-1" strike="noStrike">
              <a:solidFill>
                <a:srgbClr val="000000"/>
              </a:solidFill>
              <a:latin typeface="Arial"/>
            </a:endParaRPr>
          </a:p>
          <a:p>
            <a:r>
              <a:rPr b="0" lang="en-US" sz="1400" spc="-1" strike="noStrike">
                <a:solidFill>
                  <a:srgbClr val="000000"/>
                </a:solidFill>
                <a:latin typeface="Arial"/>
                <a:hlinkClick r:id="rId3"/>
              </a:rPr>
              <a:t>https://doi.org/10.1148/rycan.240161</a:t>
            </a:r>
            <a:endParaRPr b="0" lang="en-US" sz="1400" spc="-1" strike="noStrike">
              <a:solidFill>
                <a:srgbClr val="000000"/>
              </a:solidFill>
              <a:latin typeface="Arial"/>
            </a:endParaRPr>
          </a:p>
        </p:txBody>
      </p:sp>
      <p:pic>
        <p:nvPicPr>
          <p:cNvPr id="40" name="Journal Logo" descr=""/>
          <p:cNvPicPr/>
          <p:nvPr/>
        </p:nvPicPr>
        <p:blipFill>
          <a:blip r:embed="rId4"/>
          <a:stretch/>
        </p:blipFill>
        <p:spPr>
          <a:xfrm>
            <a:off x="6913080" y="5262480"/>
            <a:ext cx="3058920" cy="299520"/>
          </a:xfrm>
          <a:prstGeom prst="rect">
            <a:avLst/>
          </a:prstGeom>
          <a:ln>
            <a:noFill/>
          </a:ln>
        </p:spPr>
      </p:pic>
    </p:spTree>
  </p:cSld>
  <p:transition>
    <p:wipe dir="r"/>
  </p:transition>
  <p:timing>
    <p:tnLst>
      <p:par>
        <p:cTn id="1" dur="indefinite" restart="never" nodeType="tmRoot">
          <p:childTnLst>
            <p:seq>
              <p:cTn id="2" dur="indefinite" nodeType="mainSeq"/>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LibreOffice/6.0.7.3$Linux_X86_64 LibreOffice_project/dc89aa7a9eabfd848af146d5086077aeed2ae4a5</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