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media/image3.png" ContentType="image/png"/>
  <Override PartName="/ppt/media/image2.jpeg" ContentType="image/jpeg"/>
  <Override PartName="/ppt/media/image1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hyperlink" Target="https://doi.org/10.1148/rycan.240161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logo" descr=""/>
          <p:cNvPicPr/>
          <p:nvPr/>
        </p:nvPicPr>
        <p:blipFill>
          <a:blip r:embed="rId1"/>
          <a:stretch/>
        </p:blipFill>
        <p:spPr>
          <a:xfrm>
            <a:off x="151200" y="151200"/>
            <a:ext cx="687600" cy="183600"/>
          </a:xfrm>
          <a:prstGeom prst="rect">
            <a:avLst/>
          </a:prstGeom>
          <a:ln>
            <a:noFill/>
          </a:ln>
        </p:spPr>
      </p:pic>
      <p:sp>
        <p:nvSpPr>
          <p:cNvPr id="37" name="TextShape 1"/>
          <p:cNvSpPr txBox="1"/>
          <p:nvPr/>
        </p:nvSpPr>
        <p:spPr>
          <a:xfrm>
            <a:off x="144000" y="3744000"/>
            <a:ext cx="9792000" cy="1224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Figure 4: Graph attention atlases created via coregistration of patient CT images and attention maps from the HN1 dataset for oropharyngeal and laryngeal HNSCC tumors. Images in a 56-year-old male patient are shown. Top: Atlases for attention values from models predict local-regional recurrence. Bottom: Atlases for models predict distant metastasis. HN1 = Head-Neck-Radiomics-HN1 dataset, HNSCC = head and neck squamous cell carcinoma.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Main graphic" descr=""/>
          <p:cNvPicPr/>
          <p:nvPr/>
        </p:nvPicPr>
        <p:blipFill>
          <a:blip r:embed="rId2"/>
          <a:stretch/>
        </p:blipFill>
        <p:spPr>
          <a:xfrm>
            <a:off x="3798720" y="396000"/>
            <a:ext cx="2482920" cy="3240000"/>
          </a:xfrm>
          <a:prstGeom prst="rect">
            <a:avLst/>
          </a:prstGeom>
          <a:ln>
            <a:noFill/>
          </a:ln>
        </p:spPr>
      </p:pic>
      <p:sp>
        <p:nvSpPr>
          <p:cNvPr id="39" name="TextShape 2"/>
          <p:cNvSpPr txBox="1"/>
          <p:nvPr/>
        </p:nvSpPr>
        <p:spPr>
          <a:xfrm>
            <a:off x="151200" y="5040000"/>
            <a:ext cx="5605200" cy="63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Bae J. Published Online: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February 21, 2025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hlinkClick r:id="rId3"/>
              </a:rPr>
              <a:t>https://doi.org/10.1148/rycan.240161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Journal Logo" descr=""/>
          <p:cNvPicPr/>
          <p:nvPr/>
        </p:nvPicPr>
        <p:blipFill>
          <a:blip r:embed="rId4"/>
          <a:stretch/>
        </p:blipFill>
        <p:spPr>
          <a:xfrm>
            <a:off x="6913080" y="5262480"/>
            <a:ext cx="3058920" cy="299520"/>
          </a:xfrm>
          <a:prstGeom prst="rect">
            <a:avLst/>
          </a:prstGeom>
          <a:ln>
            <a:noFill/>
          </a:ln>
        </p:spPr>
      </p:pic>
    </p:spTree>
  </p:cSld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LibreOffice/6.0.7.3$Linux_X86_64 LibreOffice_project/dc89aa7a9eabfd848af146d5086077aeed2ae4a5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