
<file path=[Content_Types].xml><?xml version="1.0" encoding="utf-8"?>
<Types xmlns="http://schemas.openxmlformats.org/package/2006/content-types">
  <Override PartName="/_rels/.rels" ContentType="application/vnd.openxmlformats-package.relationships+xml"/>
  <Override PartName="/ppt/_rels/presentation.xml.rels" ContentType="application/vnd.openxmlformats-package.relationships+xml"/>
  <Override PartName="/ppt/media/image3.png" ContentType="image/png"/>
  <Override PartName="/ppt/media/image2.jpeg" ContentType="image/jpeg"/>
  <Override PartName="/ppt/media/image1.png" ContentType="image/png"/>
  <Override PartName="/ppt/slides/_rels/slide1.xml.rels" ContentType="application/vnd.openxmlformats-package.relationships+xml"/>
  <Override PartName="/ppt/slides/slide1.xml" ContentType="application/vnd.openxmlformats-officedocument.presentationml.slide+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8.xml.rels" ContentType="application/vnd.openxmlformats-package.relationships+xml"/>
  <Override PartName="/ppt/slideLayouts/_rels/slideLayout2.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slideMasters/_rels/slideMaster1.xml.rels" ContentType="application/vnd.openxmlformats-package.relationships+xml"/>
  <Override PartName="/ppt/slideMasters/slideMaster1.xml" ContentType="application/vnd.openxmlformats-officedocument.presentationml.slideMaster+xml"/>
  <Override PartName="/ppt/presentation.xml" ContentType="application/vnd.openxmlformats-officedocument.presentationml.presentation.main+xml"/>
  <Override PartName="/docProps/app.xml" ContentType="application/vnd.openxmlformats-officedocument.extended-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10080625" cy="5670550"/>
  <p:notesSz cx="7772400" cy="100584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1" name="PlaceHolder 2"/>
          <p:cNvSpPr>
            <a:spLocks noGrp="1"/>
          </p:cNvSpPr>
          <p:nvPr>
            <p:ph type="subTitle"/>
          </p:nvPr>
        </p:nvSpPr>
        <p:spPr>
          <a:xfrm>
            <a:off x="504000" y="1326600"/>
            <a:ext cx="9071640" cy="328824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3" name="PlaceHolder 2"/>
          <p:cNvSpPr>
            <a:spLocks noGrp="1"/>
          </p:cNvSpPr>
          <p:nvPr>
            <p:ph type="body"/>
          </p:nvPr>
        </p:nvSpPr>
        <p:spPr>
          <a:xfrm>
            <a:off x="504000" y="1326600"/>
            <a:ext cx="9071640" cy="32882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5" name="PlaceHolder 2"/>
          <p:cNvSpPr>
            <a:spLocks noGrp="1"/>
          </p:cNvSpPr>
          <p:nvPr>
            <p:ph type="body"/>
          </p:nvPr>
        </p:nvSpPr>
        <p:spPr>
          <a:xfrm>
            <a:off x="504000" y="1326600"/>
            <a:ext cx="4426920" cy="3288240"/>
          </a:xfrm>
          <a:prstGeom prst="rect">
            <a:avLst/>
          </a:prstGeom>
        </p:spPr>
        <p:txBody>
          <a:bodyPr lIns="0" rIns="0" tIns="0" bIns="0">
            <a:normAutofit/>
          </a:bodyPr>
          <a:p>
            <a:endParaRPr b="0" lang="en-US" sz="3200" spc="-1" strike="noStrike">
              <a:latin typeface="Arial"/>
            </a:endParaRPr>
          </a:p>
        </p:txBody>
      </p:sp>
      <p:sp>
        <p:nvSpPr>
          <p:cNvPr id="6" name="PlaceHolder 3"/>
          <p:cNvSpPr>
            <a:spLocks noGrp="1"/>
          </p:cNvSpPr>
          <p:nvPr>
            <p:ph type="body"/>
          </p:nvPr>
        </p:nvSpPr>
        <p:spPr>
          <a:xfrm>
            <a:off x="5152680" y="1326600"/>
            <a:ext cx="4426920" cy="328824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 name="PlaceHolder 1"/>
          <p:cNvSpPr>
            <a:spLocks noGrp="1"/>
          </p:cNvSpPr>
          <p:nvPr>
            <p:ph type="subTitle"/>
          </p:nvPr>
        </p:nvSpPr>
        <p:spPr>
          <a:xfrm>
            <a:off x="504000" y="226080"/>
            <a:ext cx="9071640" cy="438840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10" name="PlaceHolder 2"/>
          <p:cNvSpPr>
            <a:spLocks noGrp="1"/>
          </p:cNvSpPr>
          <p:nvPr>
            <p:ph type="body"/>
          </p:nvPr>
        </p:nvSpPr>
        <p:spPr>
          <a:xfrm>
            <a:off x="504000" y="1326600"/>
            <a:ext cx="4426920" cy="1568160"/>
          </a:xfrm>
          <a:prstGeom prst="rect">
            <a:avLst/>
          </a:prstGeom>
        </p:spPr>
        <p:txBody>
          <a:bodyPr lIns="0" rIns="0" tIns="0" bIns="0">
            <a:normAutofit/>
          </a:bodyPr>
          <a:p>
            <a:endParaRPr b="0" lang="en-US" sz="3200" spc="-1" strike="noStrike">
              <a:latin typeface="Arial"/>
            </a:endParaRPr>
          </a:p>
        </p:txBody>
      </p:sp>
      <p:sp>
        <p:nvSpPr>
          <p:cNvPr id="11" name="PlaceHolder 3"/>
          <p:cNvSpPr>
            <a:spLocks noGrp="1"/>
          </p:cNvSpPr>
          <p:nvPr>
            <p:ph type="body"/>
          </p:nvPr>
        </p:nvSpPr>
        <p:spPr>
          <a:xfrm>
            <a:off x="5152680" y="1326600"/>
            <a:ext cx="4426920" cy="3288240"/>
          </a:xfrm>
          <a:prstGeom prst="rect">
            <a:avLst/>
          </a:prstGeom>
        </p:spPr>
        <p:txBody>
          <a:bodyPr lIns="0" rIns="0" tIns="0" bIns="0">
            <a:normAutofit/>
          </a:bodyPr>
          <a:p>
            <a:endParaRPr b="0" lang="en-US" sz="3200" spc="-1" strike="noStrike">
              <a:latin typeface="Arial"/>
            </a:endParaRPr>
          </a:p>
        </p:txBody>
      </p:sp>
      <p:sp>
        <p:nvSpPr>
          <p:cNvPr id="12" name="PlaceHolder 4"/>
          <p:cNvSpPr>
            <a:spLocks noGrp="1"/>
          </p:cNvSpPr>
          <p:nvPr>
            <p:ph type="body"/>
          </p:nvPr>
        </p:nvSpPr>
        <p:spPr>
          <a:xfrm>
            <a:off x="504000" y="3044160"/>
            <a:ext cx="442692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14" name="PlaceHolder 2"/>
          <p:cNvSpPr>
            <a:spLocks noGrp="1"/>
          </p:cNvSpPr>
          <p:nvPr>
            <p:ph type="body"/>
          </p:nvPr>
        </p:nvSpPr>
        <p:spPr>
          <a:xfrm>
            <a:off x="504000" y="1326600"/>
            <a:ext cx="4426920" cy="3288240"/>
          </a:xfrm>
          <a:prstGeom prst="rect">
            <a:avLst/>
          </a:prstGeom>
        </p:spPr>
        <p:txBody>
          <a:bodyPr lIns="0" rIns="0" tIns="0" bIns="0">
            <a:normAutofit/>
          </a:bodyPr>
          <a:p>
            <a:endParaRPr b="0" lang="en-US" sz="3200" spc="-1" strike="noStrike">
              <a:latin typeface="Arial"/>
            </a:endParaRPr>
          </a:p>
        </p:txBody>
      </p:sp>
      <p:sp>
        <p:nvSpPr>
          <p:cNvPr id="15" name="PlaceHolder 3"/>
          <p:cNvSpPr>
            <a:spLocks noGrp="1"/>
          </p:cNvSpPr>
          <p:nvPr>
            <p:ph type="body"/>
          </p:nvPr>
        </p:nvSpPr>
        <p:spPr>
          <a:xfrm>
            <a:off x="5152680" y="1326600"/>
            <a:ext cx="4426920" cy="1568160"/>
          </a:xfrm>
          <a:prstGeom prst="rect">
            <a:avLst/>
          </a:prstGeom>
        </p:spPr>
        <p:txBody>
          <a:bodyPr lIns="0" rIns="0" tIns="0" bIns="0">
            <a:normAutofit/>
          </a:bodyPr>
          <a:p>
            <a:endParaRPr b="0" lang="en-US" sz="3200" spc="-1" strike="noStrike">
              <a:latin typeface="Arial"/>
            </a:endParaRPr>
          </a:p>
        </p:txBody>
      </p:sp>
      <p:sp>
        <p:nvSpPr>
          <p:cNvPr id="16" name="PlaceHolder 4"/>
          <p:cNvSpPr>
            <a:spLocks noGrp="1"/>
          </p:cNvSpPr>
          <p:nvPr>
            <p:ph type="body"/>
          </p:nvPr>
        </p:nvSpPr>
        <p:spPr>
          <a:xfrm>
            <a:off x="5152680" y="3044160"/>
            <a:ext cx="442692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18" name="PlaceHolder 2"/>
          <p:cNvSpPr>
            <a:spLocks noGrp="1"/>
          </p:cNvSpPr>
          <p:nvPr>
            <p:ph type="body"/>
          </p:nvPr>
        </p:nvSpPr>
        <p:spPr>
          <a:xfrm>
            <a:off x="504000" y="1326600"/>
            <a:ext cx="4426920" cy="1568160"/>
          </a:xfrm>
          <a:prstGeom prst="rect">
            <a:avLst/>
          </a:prstGeom>
        </p:spPr>
        <p:txBody>
          <a:bodyPr lIns="0" rIns="0" tIns="0" bIns="0">
            <a:normAutofit/>
          </a:bodyPr>
          <a:p>
            <a:endParaRPr b="0" lang="en-US" sz="3200" spc="-1" strike="noStrike">
              <a:latin typeface="Arial"/>
            </a:endParaRPr>
          </a:p>
        </p:txBody>
      </p:sp>
      <p:sp>
        <p:nvSpPr>
          <p:cNvPr id="19" name="PlaceHolder 3"/>
          <p:cNvSpPr>
            <a:spLocks noGrp="1"/>
          </p:cNvSpPr>
          <p:nvPr>
            <p:ph type="body"/>
          </p:nvPr>
        </p:nvSpPr>
        <p:spPr>
          <a:xfrm>
            <a:off x="5152680" y="1326600"/>
            <a:ext cx="4426920" cy="1568160"/>
          </a:xfrm>
          <a:prstGeom prst="rect">
            <a:avLst/>
          </a:prstGeom>
        </p:spPr>
        <p:txBody>
          <a:bodyPr lIns="0" rIns="0" tIns="0" bIns="0">
            <a:normAutofit/>
          </a:bodyPr>
          <a:p>
            <a:endParaRPr b="0" lang="en-US" sz="3200" spc="-1" strike="noStrike">
              <a:latin typeface="Arial"/>
            </a:endParaRPr>
          </a:p>
        </p:txBody>
      </p:sp>
      <p:sp>
        <p:nvSpPr>
          <p:cNvPr id="20" name="PlaceHolder 4"/>
          <p:cNvSpPr>
            <a:spLocks noGrp="1"/>
          </p:cNvSpPr>
          <p:nvPr>
            <p:ph type="body"/>
          </p:nvPr>
        </p:nvSpPr>
        <p:spPr>
          <a:xfrm>
            <a:off x="504000" y="3044160"/>
            <a:ext cx="907164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22" name="PlaceHolder 2"/>
          <p:cNvSpPr>
            <a:spLocks noGrp="1"/>
          </p:cNvSpPr>
          <p:nvPr>
            <p:ph type="body"/>
          </p:nvPr>
        </p:nvSpPr>
        <p:spPr>
          <a:xfrm>
            <a:off x="504000" y="1326600"/>
            <a:ext cx="9071640" cy="1568160"/>
          </a:xfrm>
          <a:prstGeom prst="rect">
            <a:avLst/>
          </a:prstGeom>
        </p:spPr>
        <p:txBody>
          <a:bodyPr lIns="0" rIns="0" tIns="0" bIns="0">
            <a:normAutofit/>
          </a:bodyPr>
          <a:p>
            <a:endParaRPr b="0" lang="en-US" sz="3200" spc="-1" strike="noStrike">
              <a:latin typeface="Arial"/>
            </a:endParaRPr>
          </a:p>
        </p:txBody>
      </p:sp>
      <p:sp>
        <p:nvSpPr>
          <p:cNvPr id="23" name="PlaceHolder 3"/>
          <p:cNvSpPr>
            <a:spLocks noGrp="1"/>
          </p:cNvSpPr>
          <p:nvPr>
            <p:ph type="body"/>
          </p:nvPr>
        </p:nvSpPr>
        <p:spPr>
          <a:xfrm>
            <a:off x="504000" y="3044160"/>
            <a:ext cx="907164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25" name="PlaceHolder 2"/>
          <p:cNvSpPr>
            <a:spLocks noGrp="1"/>
          </p:cNvSpPr>
          <p:nvPr>
            <p:ph type="body"/>
          </p:nvPr>
        </p:nvSpPr>
        <p:spPr>
          <a:xfrm>
            <a:off x="504000" y="1326600"/>
            <a:ext cx="4426920" cy="1568160"/>
          </a:xfrm>
          <a:prstGeom prst="rect">
            <a:avLst/>
          </a:prstGeom>
        </p:spPr>
        <p:txBody>
          <a:bodyPr lIns="0" rIns="0" tIns="0" bIns="0">
            <a:normAutofit/>
          </a:bodyPr>
          <a:p>
            <a:endParaRPr b="0" lang="en-US" sz="3200" spc="-1" strike="noStrike">
              <a:latin typeface="Arial"/>
            </a:endParaRPr>
          </a:p>
        </p:txBody>
      </p:sp>
      <p:sp>
        <p:nvSpPr>
          <p:cNvPr id="26" name="PlaceHolder 3"/>
          <p:cNvSpPr>
            <a:spLocks noGrp="1"/>
          </p:cNvSpPr>
          <p:nvPr>
            <p:ph type="body"/>
          </p:nvPr>
        </p:nvSpPr>
        <p:spPr>
          <a:xfrm>
            <a:off x="5152680" y="1326600"/>
            <a:ext cx="4426920" cy="1568160"/>
          </a:xfrm>
          <a:prstGeom prst="rect">
            <a:avLst/>
          </a:prstGeom>
        </p:spPr>
        <p:txBody>
          <a:bodyPr lIns="0" rIns="0" tIns="0" bIns="0">
            <a:normAutofit/>
          </a:bodyPr>
          <a:p>
            <a:endParaRPr b="0" lang="en-US" sz="3200" spc="-1" strike="noStrike">
              <a:latin typeface="Arial"/>
            </a:endParaRPr>
          </a:p>
        </p:txBody>
      </p:sp>
      <p:sp>
        <p:nvSpPr>
          <p:cNvPr id="27" name="PlaceHolder 4"/>
          <p:cNvSpPr>
            <a:spLocks noGrp="1"/>
          </p:cNvSpPr>
          <p:nvPr>
            <p:ph type="body"/>
          </p:nvPr>
        </p:nvSpPr>
        <p:spPr>
          <a:xfrm>
            <a:off x="504000" y="3044160"/>
            <a:ext cx="4426920" cy="1568160"/>
          </a:xfrm>
          <a:prstGeom prst="rect">
            <a:avLst/>
          </a:prstGeom>
        </p:spPr>
        <p:txBody>
          <a:bodyPr lIns="0" rIns="0" tIns="0" bIns="0">
            <a:normAutofit/>
          </a:bodyPr>
          <a:p>
            <a:endParaRPr b="0" lang="en-US" sz="3200" spc="-1" strike="noStrike">
              <a:latin typeface="Arial"/>
            </a:endParaRPr>
          </a:p>
        </p:txBody>
      </p:sp>
      <p:sp>
        <p:nvSpPr>
          <p:cNvPr id="28" name="PlaceHolder 5"/>
          <p:cNvSpPr>
            <a:spLocks noGrp="1"/>
          </p:cNvSpPr>
          <p:nvPr>
            <p:ph type="body"/>
          </p:nvPr>
        </p:nvSpPr>
        <p:spPr>
          <a:xfrm>
            <a:off x="5152680" y="3044160"/>
            <a:ext cx="442692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30" name="PlaceHolder 2"/>
          <p:cNvSpPr>
            <a:spLocks noGrp="1"/>
          </p:cNvSpPr>
          <p:nvPr>
            <p:ph type="body"/>
          </p:nvPr>
        </p:nvSpPr>
        <p:spPr>
          <a:xfrm>
            <a:off x="504000" y="1326600"/>
            <a:ext cx="2920680" cy="1568160"/>
          </a:xfrm>
          <a:prstGeom prst="rect">
            <a:avLst/>
          </a:prstGeom>
        </p:spPr>
        <p:txBody>
          <a:bodyPr lIns="0" rIns="0" tIns="0" bIns="0">
            <a:normAutofit/>
          </a:bodyPr>
          <a:p>
            <a:endParaRPr b="0" lang="en-US" sz="3200" spc="-1" strike="noStrike">
              <a:latin typeface="Arial"/>
            </a:endParaRPr>
          </a:p>
        </p:txBody>
      </p:sp>
      <p:sp>
        <p:nvSpPr>
          <p:cNvPr id="31" name="PlaceHolder 3"/>
          <p:cNvSpPr>
            <a:spLocks noGrp="1"/>
          </p:cNvSpPr>
          <p:nvPr>
            <p:ph type="body"/>
          </p:nvPr>
        </p:nvSpPr>
        <p:spPr>
          <a:xfrm>
            <a:off x="3571200" y="1326600"/>
            <a:ext cx="2920680" cy="1568160"/>
          </a:xfrm>
          <a:prstGeom prst="rect">
            <a:avLst/>
          </a:prstGeom>
        </p:spPr>
        <p:txBody>
          <a:bodyPr lIns="0" rIns="0" tIns="0" bIns="0">
            <a:normAutofit/>
          </a:bodyPr>
          <a:p>
            <a:endParaRPr b="0" lang="en-US" sz="3200" spc="-1" strike="noStrike">
              <a:latin typeface="Arial"/>
            </a:endParaRPr>
          </a:p>
        </p:txBody>
      </p:sp>
      <p:sp>
        <p:nvSpPr>
          <p:cNvPr id="32" name="PlaceHolder 4"/>
          <p:cNvSpPr>
            <a:spLocks noGrp="1"/>
          </p:cNvSpPr>
          <p:nvPr>
            <p:ph type="body"/>
          </p:nvPr>
        </p:nvSpPr>
        <p:spPr>
          <a:xfrm>
            <a:off x="6638040" y="1326600"/>
            <a:ext cx="2920680" cy="1568160"/>
          </a:xfrm>
          <a:prstGeom prst="rect">
            <a:avLst/>
          </a:prstGeom>
        </p:spPr>
        <p:txBody>
          <a:bodyPr lIns="0" rIns="0" tIns="0" bIns="0">
            <a:normAutofit/>
          </a:bodyPr>
          <a:p>
            <a:endParaRPr b="0" lang="en-US" sz="3200" spc="-1" strike="noStrike">
              <a:latin typeface="Arial"/>
            </a:endParaRPr>
          </a:p>
        </p:txBody>
      </p:sp>
      <p:sp>
        <p:nvSpPr>
          <p:cNvPr id="33" name="PlaceHolder 5"/>
          <p:cNvSpPr>
            <a:spLocks noGrp="1"/>
          </p:cNvSpPr>
          <p:nvPr>
            <p:ph type="body"/>
          </p:nvPr>
        </p:nvSpPr>
        <p:spPr>
          <a:xfrm>
            <a:off x="504000" y="3044160"/>
            <a:ext cx="2920680" cy="1568160"/>
          </a:xfrm>
          <a:prstGeom prst="rect">
            <a:avLst/>
          </a:prstGeom>
        </p:spPr>
        <p:txBody>
          <a:bodyPr lIns="0" rIns="0" tIns="0" bIns="0">
            <a:normAutofit/>
          </a:bodyPr>
          <a:p>
            <a:endParaRPr b="0" lang="en-US" sz="3200" spc="-1" strike="noStrike">
              <a:latin typeface="Arial"/>
            </a:endParaRPr>
          </a:p>
        </p:txBody>
      </p:sp>
      <p:sp>
        <p:nvSpPr>
          <p:cNvPr id="34" name="PlaceHolder 6"/>
          <p:cNvSpPr>
            <a:spLocks noGrp="1"/>
          </p:cNvSpPr>
          <p:nvPr>
            <p:ph type="body"/>
          </p:nvPr>
        </p:nvSpPr>
        <p:spPr>
          <a:xfrm>
            <a:off x="3571200" y="3044160"/>
            <a:ext cx="2920680" cy="1568160"/>
          </a:xfrm>
          <a:prstGeom prst="rect">
            <a:avLst/>
          </a:prstGeom>
        </p:spPr>
        <p:txBody>
          <a:bodyPr lIns="0" rIns="0" tIns="0" bIns="0">
            <a:normAutofit/>
          </a:bodyPr>
          <a:p>
            <a:endParaRPr b="0" lang="en-US" sz="3200" spc="-1" strike="noStrike">
              <a:latin typeface="Arial"/>
            </a:endParaRPr>
          </a:p>
        </p:txBody>
      </p:sp>
      <p:sp>
        <p:nvSpPr>
          <p:cNvPr id="35" name="PlaceHolder 7"/>
          <p:cNvSpPr>
            <a:spLocks noGrp="1"/>
          </p:cNvSpPr>
          <p:nvPr>
            <p:ph type="body"/>
          </p:nvPr>
        </p:nvSpPr>
        <p:spPr>
          <a:xfrm>
            <a:off x="6638040" y="3044160"/>
            <a:ext cx="2920680" cy="156816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hyperlink" Target="https://doi.org/10.1148/rycan.240161" TargetMode="External"/><Relationship Id="rId4" Type="http://schemas.openxmlformats.org/officeDocument/2006/relationships/image" Target="../media/image3.png"/><Relationship Id="rId5"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 name="logo" descr=""/>
          <p:cNvPicPr/>
          <p:nvPr/>
        </p:nvPicPr>
        <p:blipFill>
          <a:blip r:embed="rId1"/>
          <a:stretch/>
        </p:blipFill>
        <p:spPr>
          <a:xfrm>
            <a:off x="151200" y="151200"/>
            <a:ext cx="687600" cy="183600"/>
          </a:xfrm>
          <a:prstGeom prst="rect">
            <a:avLst/>
          </a:prstGeom>
          <a:ln>
            <a:noFill/>
          </a:ln>
        </p:spPr>
      </p:pic>
      <p:sp>
        <p:nvSpPr>
          <p:cNvPr id="37" name="TextShape 1"/>
          <p:cNvSpPr txBox="1"/>
          <p:nvPr/>
        </p:nvSpPr>
        <p:spPr>
          <a:xfrm>
            <a:off x="144000" y="3744000"/>
            <a:ext cx="9792000" cy="1224000"/>
          </a:xfrm>
          <a:prstGeom prst="rect">
            <a:avLst/>
          </a:prstGeom>
          <a:noFill/>
          <a:ln>
            <a:noFill/>
          </a:ln>
        </p:spPr>
        <p:txBody>
          <a:bodyPr lIns="90000" rIns="90000" tIns="45000" bIns="45000"/>
          <a:p>
            <a:r>
              <a:rPr b="0" lang="en-US" sz="1000" spc="-1" strike="noStrike">
                <a:solidFill>
                  <a:srgbClr val="000000"/>
                </a:solidFill>
                <a:latin typeface="Arial"/>
              </a:rPr>
              <a:t>Figure 1: Patient inclusion and exclusion criteria. Flowchart shows the patient inclusion data for the four TCIA datasets studied, as well as the composition of the training, validation, and testing datasets studied in this work. GTV = gross target volume, HNPET = Head-Neck-PET-CT dataset, HN1 = Head-Neck-Radiomics-HN1 dataset, MDACC = MD Anderson Cancer Center head and neck squamous cell carcinoma dataset, RADCURE = Computed Tomography Images from Large Head and Neck Cohort dataset, TCIA = The Cancer Imaging Archive.</a:t>
            </a:r>
            <a:endParaRPr b="0" lang="en-US" sz="1000" spc="-1" strike="noStrike">
              <a:solidFill>
                <a:srgbClr val="000000"/>
              </a:solidFill>
              <a:latin typeface="Arial"/>
            </a:endParaRPr>
          </a:p>
          <a:p>
            <a:endParaRPr b="0" lang="en-US" sz="1000" spc="-1" strike="noStrike">
              <a:solidFill>
                <a:srgbClr val="000000"/>
              </a:solidFill>
              <a:latin typeface="Arial"/>
            </a:endParaRPr>
          </a:p>
        </p:txBody>
      </p:sp>
      <p:pic>
        <p:nvPicPr>
          <p:cNvPr id="38" name="Main graphic" descr=""/>
          <p:cNvPicPr/>
          <p:nvPr/>
        </p:nvPicPr>
        <p:blipFill>
          <a:blip r:embed="rId2"/>
          <a:stretch/>
        </p:blipFill>
        <p:spPr>
          <a:xfrm>
            <a:off x="3047400" y="396000"/>
            <a:ext cx="3985560" cy="3240000"/>
          </a:xfrm>
          <a:prstGeom prst="rect">
            <a:avLst/>
          </a:prstGeom>
          <a:ln>
            <a:noFill/>
          </a:ln>
        </p:spPr>
      </p:pic>
      <p:sp>
        <p:nvSpPr>
          <p:cNvPr id="39" name="TextShape 2"/>
          <p:cNvSpPr txBox="1"/>
          <p:nvPr/>
        </p:nvSpPr>
        <p:spPr>
          <a:xfrm>
            <a:off x="151200" y="5040000"/>
            <a:ext cx="5605200" cy="630000"/>
          </a:xfrm>
          <a:prstGeom prst="rect">
            <a:avLst/>
          </a:prstGeom>
          <a:noFill/>
          <a:ln>
            <a:noFill/>
          </a:ln>
        </p:spPr>
        <p:txBody>
          <a:bodyPr lIns="90000" rIns="90000" tIns="45000" bIns="45000"/>
          <a:p>
            <a:r>
              <a:rPr b="1" lang="en-US" sz="1200" spc="-1" strike="noStrike">
                <a:solidFill>
                  <a:srgbClr val="000000"/>
                </a:solidFill>
                <a:latin typeface="Arial"/>
              </a:rPr>
              <a:t>Bae J. Published Online: </a:t>
            </a:r>
            <a:r>
              <a:rPr b="0" lang="en-US" sz="900" spc="-1" strike="noStrike">
                <a:solidFill>
                  <a:srgbClr val="000000"/>
                </a:solidFill>
                <a:latin typeface="Arial"/>
              </a:rPr>
              <a:t>February 21, 2025</a:t>
            </a:r>
            <a:endParaRPr b="0" lang="en-US" sz="900" spc="-1" strike="noStrike">
              <a:solidFill>
                <a:srgbClr val="000000"/>
              </a:solidFill>
              <a:latin typeface="Arial"/>
            </a:endParaRPr>
          </a:p>
          <a:p>
            <a:r>
              <a:rPr b="0" lang="en-US" sz="1400" spc="-1" strike="noStrike">
                <a:solidFill>
                  <a:srgbClr val="000000"/>
                </a:solidFill>
                <a:latin typeface="Arial"/>
                <a:hlinkClick r:id="rId3"/>
              </a:rPr>
              <a:t>https://doi.org/10.1148/rycan.240161</a:t>
            </a:r>
            <a:endParaRPr b="0" lang="en-US" sz="1400" spc="-1" strike="noStrike">
              <a:solidFill>
                <a:srgbClr val="000000"/>
              </a:solidFill>
              <a:latin typeface="Arial"/>
            </a:endParaRPr>
          </a:p>
        </p:txBody>
      </p:sp>
      <p:pic>
        <p:nvPicPr>
          <p:cNvPr id="40" name="Journal Logo" descr=""/>
          <p:cNvPicPr/>
          <p:nvPr/>
        </p:nvPicPr>
        <p:blipFill>
          <a:blip r:embed="rId4"/>
          <a:stretch/>
        </p:blipFill>
        <p:spPr>
          <a:xfrm>
            <a:off x="6913080" y="5262480"/>
            <a:ext cx="3058920" cy="299520"/>
          </a:xfrm>
          <a:prstGeom prst="rect">
            <a:avLst/>
          </a:prstGeom>
          <a:ln>
            <a:noFill/>
          </a:ln>
        </p:spPr>
      </p:pic>
    </p:spTree>
  </p:cSld>
  <p:transition>
    <p:wipe dir="r"/>
  </p:transition>
  <p:timing>
    <p:tnLst>
      <p:par>
        <p:cTn id="1" dur="indefinite" restart="never" nodeType="tmRoot">
          <p:childTnLst>
            <p:seq>
              <p:cTn id="2" dur="indefinite"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LibreOffice/6.0.7.3$Linux_X86_64 LibreOffice_project/dc89aa7a9eabfd848af146d5086077aeed2ae4a5</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